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8593" y="0"/>
            <a:ext cx="2247595" cy="106710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85900" y="193039"/>
            <a:ext cx="104013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4000" b="1">
                <a:solidFill>
                  <a:srgbClr val="1F4A7D"/>
                </a:solidFill>
                <a:latin typeface="Garamond"/>
              </a:rPr>
              <a:t>SMART INDIA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2193" y="1269492"/>
            <a:ext cx="7595006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200" b="1">
                <a:solidFill>
                  <a:srgbClr val="000000"/>
                </a:solidFill>
                <a:latin typeface="Times New Roman"/>
              </a:rPr>
              <a:t>TITLE PAGE</a:t>
            </a:r>
          </a:p>
        </p:txBody>
      </p:sp>
      <p:pic>
        <p:nvPicPr>
          <p:cNvPr id="5" name="Picture 4" descr="emble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714500"/>
            <a:ext cx="3200400" cy="3429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8795" y="2384044"/>
            <a:ext cx="11468404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00" b="1">
                <a:solidFill>
                  <a:srgbClr val="000000"/>
                </a:solidFill>
                <a:latin typeface="Arial"/>
              </a:rPr>
              <a:t>• Problem Statement ID – SIH26189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8795" y="2752344"/>
            <a:ext cx="11468404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00" b="1">
                <a:solidFill>
                  <a:srgbClr val="000000"/>
                </a:solidFill>
                <a:latin typeface="Calibri"/>
              </a:rPr>
              <a:t>• Problem Statement Title - AI-Powered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1403" y="3120644"/>
            <a:ext cx="11175796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00" b="0">
                <a:solidFill>
                  <a:srgbClr val="000000"/>
                </a:solidFill>
                <a:latin typeface="Calibri"/>
              </a:rPr>
              <a:t>Criminal Network Analysis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8795" y="3857244"/>
            <a:ext cx="11468404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00" b="1">
                <a:solidFill>
                  <a:srgbClr val="000000"/>
                </a:solidFill>
                <a:latin typeface="Calibri"/>
              </a:rPr>
              <a:t>• Theme-Blockchain &amp; Cybersecurity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8795" y="4466844"/>
            <a:ext cx="11468404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00" b="1">
                <a:solidFill>
                  <a:srgbClr val="000000"/>
                </a:solidFill>
                <a:latin typeface="Arial"/>
              </a:rPr>
              <a:t>• PS Category- Software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8795" y="5203444"/>
            <a:ext cx="11468404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00" b="1">
                <a:solidFill>
                  <a:srgbClr val="000000"/>
                </a:solidFill>
                <a:latin typeface="Arial"/>
              </a:rPr>
              <a:t>• Team ID- AUS_SIH26_309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8795" y="5927344"/>
            <a:ext cx="11468404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00" b="1">
                <a:solidFill>
                  <a:srgbClr val="000000"/>
                </a:solidFill>
                <a:latin typeface="Arial"/>
              </a:rPr>
              <a:t>• Team Name (Registered on portal)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8593" y="0"/>
            <a:ext cx="2247595" cy="106710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8893" y="241807"/>
            <a:ext cx="11138306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0">
                <a:solidFill>
                  <a:srgbClr val="000000"/>
                </a:solidFill>
                <a:latin typeface="Calibri"/>
              </a:rPr>
              <a:t>Your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1403" y="508508"/>
            <a:ext cx="11175796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0">
                <a:solidFill>
                  <a:srgbClr val="000000"/>
                </a:solidFill>
                <a:latin typeface="Calibri"/>
              </a:rPr>
              <a:t>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2998" y="787907"/>
            <a:ext cx="11214201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0">
                <a:solidFill>
                  <a:srgbClr val="000000"/>
                </a:solidFill>
                <a:latin typeface="Calibri"/>
              </a:rPr>
              <a:t>Name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3747" y="559816"/>
            <a:ext cx="11163452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600" b="1">
                <a:solidFill>
                  <a:srgbClr val="000000"/>
                </a:solidFill>
                <a:latin typeface="Times New Roman"/>
              </a:rPr>
              <a:t>AI-Powered Criminal Network Analysis System</a:t>
            </a:r>
          </a:p>
        </p:txBody>
      </p:sp>
      <p:pic>
        <p:nvPicPr>
          <p:cNvPr id="7" name="Picture 6" descr="problem_sol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4401" y="1377458"/>
            <a:ext cx="9423806" cy="525979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117896" y="6443471"/>
            <a:ext cx="6769303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0">
                <a:solidFill>
                  <a:srgbClr val="808080"/>
                </a:solidFill>
                <a:latin typeface="Arial"/>
              </a:rPr>
              <a:t>@SIH Idea submission- Template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04396" y="6443471"/>
            <a:ext cx="5486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1">
                <a:solidFill>
                  <a:srgbClr val="808080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8593" y="0"/>
            <a:ext cx="2247595" cy="106710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8893" y="241807"/>
            <a:ext cx="11138306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0">
                <a:solidFill>
                  <a:srgbClr val="000000"/>
                </a:solidFill>
                <a:latin typeface="Calibri"/>
              </a:rPr>
              <a:t>Your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1403" y="508508"/>
            <a:ext cx="11175796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0">
                <a:solidFill>
                  <a:srgbClr val="000000"/>
                </a:solidFill>
                <a:latin typeface="Calibri"/>
              </a:rPr>
              <a:t>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2998" y="787907"/>
            <a:ext cx="11214201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0">
                <a:solidFill>
                  <a:srgbClr val="000000"/>
                </a:solidFill>
                <a:latin typeface="Calibri"/>
              </a:rPr>
              <a:t>Name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81247" y="229616"/>
            <a:ext cx="8305952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600" b="1">
                <a:solidFill>
                  <a:srgbClr val="000000"/>
                </a:solidFill>
                <a:latin typeface="Times New Roman"/>
              </a:rPr>
              <a:t>TECHNICAL APPROACH</a:t>
            </a:r>
          </a:p>
        </p:txBody>
      </p:sp>
      <p:pic>
        <p:nvPicPr>
          <p:cNvPr id="7" name="Picture 6" descr="technical_approa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" y="1534252"/>
            <a:ext cx="11505895" cy="488128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117896" y="6443471"/>
            <a:ext cx="6769303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0">
                <a:solidFill>
                  <a:srgbClr val="808080"/>
                </a:solidFill>
                <a:latin typeface="Arial"/>
              </a:rPr>
              <a:t>@SIH Idea submission- Template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04396" y="6443471"/>
            <a:ext cx="5486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1">
                <a:solidFill>
                  <a:srgbClr val="808080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8593" y="0"/>
            <a:ext cx="2247595" cy="106710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8893" y="241807"/>
            <a:ext cx="11138306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0">
                <a:solidFill>
                  <a:srgbClr val="000000"/>
                </a:solidFill>
                <a:latin typeface="Calibri"/>
              </a:rPr>
              <a:t>Your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1403" y="508508"/>
            <a:ext cx="11175796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0">
                <a:solidFill>
                  <a:srgbClr val="000000"/>
                </a:solidFill>
                <a:latin typeface="Calibri"/>
              </a:rPr>
              <a:t>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2998" y="787907"/>
            <a:ext cx="11214201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0">
                <a:solidFill>
                  <a:srgbClr val="000000"/>
                </a:solidFill>
                <a:latin typeface="Calibri"/>
              </a:rPr>
              <a:t>Name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81147" y="229616"/>
            <a:ext cx="9106052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600" b="1">
                <a:solidFill>
                  <a:srgbClr val="000000"/>
                </a:solidFill>
                <a:latin typeface="Times New Roman"/>
              </a:rPr>
              <a:t>FEASIBILITY AND VIABILITY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6093" y="1166368"/>
            <a:ext cx="10681106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00" b="1">
                <a:solidFill>
                  <a:srgbClr val="000000"/>
                </a:solidFill>
                <a:latin typeface="Times New Roman"/>
              </a:rPr>
              <a:t>Feasibility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6093" y="1585468"/>
            <a:ext cx="10681106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00" b="0">
                <a:solidFill>
                  <a:srgbClr val="000000"/>
                </a:solidFill>
                <a:latin typeface="Times New Roman"/>
              </a:rPr>
              <a:t>Uses proven AI, graph and blockchain technologies.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6093" y="2017267"/>
            <a:ext cx="10681106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00" b="0">
                <a:solidFill>
                  <a:srgbClr val="000000"/>
                </a:solidFill>
                <a:latin typeface="Times New Roman"/>
              </a:rPr>
              <a:t>Can be tested with anonymised “Operation Mumbai” data.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6093" y="2449068"/>
            <a:ext cx="10681106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00" b="0">
                <a:solidFill>
                  <a:srgbClr val="000000"/>
                </a:solidFill>
                <a:latin typeface="Times New Roman"/>
              </a:rPr>
              <a:t>Scalable for future deployment.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6093" y="2868168"/>
            <a:ext cx="10681106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00" b="1">
                <a:solidFill>
                  <a:srgbClr val="000000"/>
                </a:solidFill>
                <a:latin typeface="Times New Roman"/>
              </a:rPr>
              <a:t>Challenges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6093" y="3299968"/>
            <a:ext cx="10681106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00" b="0">
                <a:solidFill>
                  <a:srgbClr val="000000"/>
                </a:solidFill>
                <a:latin typeface="Times New Roman"/>
              </a:rPr>
              <a:t>Data privacy and security.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6093" y="3719068"/>
            <a:ext cx="10681106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00" b="0">
                <a:solidFill>
                  <a:srgbClr val="000000"/>
                </a:solidFill>
                <a:latin typeface="Times New Roman"/>
              </a:rPr>
              <a:t>Incomplete or inaccurate data.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6093" y="4150868"/>
            <a:ext cx="10681106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00" b="0">
                <a:solidFill>
                  <a:srgbClr val="000000"/>
                </a:solidFill>
                <a:latin typeface="Times New Roman"/>
              </a:rPr>
              <a:t>System integration issues.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6093" y="4582668"/>
            <a:ext cx="10681106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00" b="1">
                <a:solidFill>
                  <a:srgbClr val="000000"/>
                </a:solidFill>
                <a:latin typeface="Times New Roman"/>
              </a:rPr>
              <a:t>Strategies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6093" y="5001768"/>
            <a:ext cx="10681106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00" b="0">
                <a:solidFill>
                  <a:srgbClr val="000000"/>
                </a:solidFill>
                <a:latin typeface="Times New Roman"/>
              </a:rPr>
              <a:t>Secure data access and encryption (JWT, bcrypt, AES-256).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6093" y="5433568"/>
            <a:ext cx="10681106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00" b="0">
                <a:solidFill>
                  <a:srgbClr val="000000"/>
                </a:solidFill>
                <a:latin typeface="Times New Roman"/>
              </a:rPr>
              <a:t>Data cleaning and validation.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6093" y="5852668"/>
            <a:ext cx="10681106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00" b="0">
                <a:solidFill>
                  <a:srgbClr val="000000"/>
                </a:solidFill>
                <a:latin typeface="Times New Roman"/>
              </a:rPr>
              <a:t>Phased implementation and user training.</a:t>
            </a:r>
          </a:p>
        </p:txBody>
      </p:sp>
      <p:pic>
        <p:nvPicPr>
          <p:cNvPr id="19" name="Picture 18" descr="final_icon_feasibil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7758" y="1117396"/>
            <a:ext cx="1712777" cy="1701698"/>
          </a:xfrm>
          <a:prstGeom prst="rect">
            <a:avLst/>
          </a:prstGeom>
        </p:spPr>
      </p:pic>
      <p:pic>
        <p:nvPicPr>
          <p:cNvPr id="20" name="Picture 19" descr="final_icon_challeng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6896" y="3131220"/>
            <a:ext cx="1447495" cy="1306961"/>
          </a:xfrm>
          <a:prstGeom prst="rect">
            <a:avLst/>
          </a:prstGeom>
        </p:spPr>
      </p:pic>
      <p:pic>
        <p:nvPicPr>
          <p:cNvPr id="21" name="Picture 20" descr="final_icon_strategi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9557" y="4889296"/>
            <a:ext cx="1263087" cy="170169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117896" y="6443471"/>
            <a:ext cx="6769303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0">
                <a:solidFill>
                  <a:srgbClr val="808080"/>
                </a:solidFill>
                <a:latin typeface="Arial"/>
              </a:rPr>
              <a:t>@SIH Idea submission- Template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04396" y="6443471"/>
            <a:ext cx="5486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1">
                <a:solidFill>
                  <a:srgbClr val="808080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8593" y="0"/>
            <a:ext cx="2247595" cy="106710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8893" y="241807"/>
            <a:ext cx="11138306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0">
                <a:solidFill>
                  <a:srgbClr val="000000"/>
                </a:solidFill>
                <a:latin typeface="Calibri"/>
              </a:rPr>
              <a:t>Your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1403" y="508508"/>
            <a:ext cx="11175796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0">
                <a:solidFill>
                  <a:srgbClr val="000000"/>
                </a:solidFill>
                <a:latin typeface="Calibri"/>
              </a:rPr>
              <a:t>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2998" y="787907"/>
            <a:ext cx="11214201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0">
                <a:solidFill>
                  <a:srgbClr val="000000"/>
                </a:solidFill>
                <a:latin typeface="Calibri"/>
              </a:rPr>
              <a:t>Name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66947" y="229616"/>
            <a:ext cx="8420252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600" b="1">
                <a:solidFill>
                  <a:srgbClr val="000000"/>
                </a:solidFill>
                <a:latin typeface="Times New Roman"/>
              </a:rPr>
              <a:t>IMPACT AND BENEFITS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0296" y="1102868"/>
            <a:ext cx="10426903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00" b="1">
                <a:solidFill>
                  <a:srgbClr val="000000"/>
                </a:solidFill>
                <a:latin typeface="Times New Roman"/>
              </a:rPr>
              <a:t>Potential Impact on Target Audience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0296" y="1521968"/>
            <a:ext cx="10426903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00" b="0">
                <a:solidFill>
                  <a:srgbClr val="000000"/>
                </a:solidFill>
                <a:latin typeface="Times New Roman"/>
              </a:rPr>
              <a:t>Helps police investigators identify criminal connections faster.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0296" y="1953768"/>
            <a:ext cx="10426903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00" b="0">
                <a:solidFill>
                  <a:srgbClr val="000000"/>
                </a:solidFill>
                <a:latin typeface="Times New Roman"/>
              </a:rPr>
              <a:t>Supports better decision-making and investigation.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0296" y="2372868"/>
            <a:ext cx="10426903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00" b="0">
                <a:solidFill>
                  <a:srgbClr val="000000"/>
                </a:solidFill>
                <a:latin typeface="Times New Roman"/>
              </a:rPr>
              <a:t>Improves inter-agency coordination via secure data sharing.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0296" y="2804668"/>
            <a:ext cx="10426903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00" b="1">
                <a:solidFill>
                  <a:srgbClr val="000000"/>
                </a:solidFill>
                <a:latin typeface="Times New Roman"/>
              </a:rPr>
              <a:t>Benefits of the 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0296" y="3236468"/>
            <a:ext cx="10426903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00" b="1">
                <a:solidFill>
                  <a:srgbClr val="000000"/>
                </a:solidFill>
                <a:latin typeface="Times New Roman"/>
              </a:rPr>
              <a:t>Social:</a:t>
            </a:r>
            <a:r>
              <a:rPr sz="2800" b="0">
                <a:solidFill>
                  <a:srgbClr val="000000"/>
                </a:solidFill>
                <a:latin typeface="Times New Roman"/>
              </a:rPr>
              <a:t> Faster investigations and tamper-proof evidence.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0296" y="3655567"/>
            <a:ext cx="10426903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00" b="1">
                <a:solidFill>
                  <a:srgbClr val="000000"/>
                </a:solidFill>
                <a:latin typeface="Times New Roman"/>
              </a:rPr>
              <a:t>Economic:</a:t>
            </a:r>
            <a:r>
              <a:rPr sz="2800" b="0">
                <a:solidFill>
                  <a:srgbClr val="000000"/>
                </a:solidFill>
                <a:latin typeface="Times New Roman"/>
              </a:rPr>
              <a:t> Reduces crime-related financial losses and saves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0296" y="4087368"/>
            <a:ext cx="10426903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00" b="0">
                <a:solidFill>
                  <a:srgbClr val="000000"/>
                </a:solidFill>
                <a:latin typeface="Times New Roman"/>
              </a:rPr>
              <a:t>investigation resources.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0296" y="4519168"/>
            <a:ext cx="10426903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00" b="1">
                <a:solidFill>
                  <a:srgbClr val="000000"/>
                </a:solidFill>
                <a:latin typeface="Times New Roman"/>
              </a:rPr>
              <a:t>Administrative:</a:t>
            </a:r>
            <a:r>
              <a:rPr sz="2800" b="0">
                <a:solidFill>
                  <a:srgbClr val="000000"/>
                </a:solidFill>
                <a:latin typeface="Times New Roman"/>
              </a:rPr>
              <a:t> Centralised intelligence, immutable audit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0296" y="4938268"/>
            <a:ext cx="10426903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00" b="0">
                <a:solidFill>
                  <a:srgbClr val="000000"/>
                </a:solidFill>
                <a:latin typeface="Times New Roman"/>
              </a:rPr>
              <a:t>trail and inter-agency coordination.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0296" y="5370068"/>
            <a:ext cx="10426903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00" b="1">
                <a:solidFill>
                  <a:srgbClr val="000000"/>
                </a:solidFill>
                <a:latin typeface="Times New Roman"/>
              </a:rPr>
              <a:t>Environmental:</a:t>
            </a:r>
            <a:r>
              <a:rPr sz="2800" b="0">
                <a:solidFill>
                  <a:srgbClr val="000000"/>
                </a:solidFill>
                <a:latin typeface="Times New Roman"/>
              </a:rPr>
              <a:t> Reduces paper-based investigation and manual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0296" y="5789168"/>
            <a:ext cx="10426903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00" b="0">
                <a:solidFill>
                  <a:srgbClr val="000000"/>
                </a:solidFill>
                <a:latin typeface="Times New Roman"/>
              </a:rPr>
              <a:t>documentation.</a:t>
            </a:r>
          </a:p>
        </p:txBody>
      </p:sp>
      <p:pic>
        <p:nvPicPr>
          <p:cNvPr id="19" name="Picture 18" descr="final_icon_so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6585" y="3099816"/>
            <a:ext cx="549468" cy="566928"/>
          </a:xfrm>
          <a:prstGeom prst="rect">
            <a:avLst/>
          </a:prstGeom>
        </p:spPr>
      </p:pic>
      <p:pic>
        <p:nvPicPr>
          <p:cNvPr id="20" name="Picture 19" descr="final_icon_economi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77856" y="3718021"/>
            <a:ext cx="566928" cy="354645"/>
          </a:xfrm>
          <a:prstGeom prst="rect">
            <a:avLst/>
          </a:prstGeom>
        </p:spPr>
      </p:pic>
      <p:pic>
        <p:nvPicPr>
          <p:cNvPr id="21" name="Picture 20" descr="final_icon_administrativ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77856" y="4448188"/>
            <a:ext cx="566928" cy="448791"/>
          </a:xfrm>
          <a:prstGeom prst="rect">
            <a:avLst/>
          </a:prstGeom>
        </p:spPr>
      </p:pic>
      <p:pic>
        <p:nvPicPr>
          <p:cNvPr id="22" name="Picture 21" descr="final_icon_environment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46330" y="5230368"/>
            <a:ext cx="429979" cy="56692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117896" y="6443471"/>
            <a:ext cx="6769303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0">
                <a:solidFill>
                  <a:srgbClr val="808080"/>
                </a:solidFill>
                <a:latin typeface="Arial"/>
              </a:rPr>
              <a:t>@SIH Idea submission- Template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04396" y="6443471"/>
            <a:ext cx="5486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1">
                <a:solidFill>
                  <a:srgbClr val="808080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8593" y="0"/>
            <a:ext cx="2247595" cy="106710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8893" y="241807"/>
            <a:ext cx="11138306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0">
                <a:solidFill>
                  <a:srgbClr val="000000"/>
                </a:solidFill>
                <a:latin typeface="Calibri"/>
              </a:rPr>
              <a:t>Your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1403" y="508508"/>
            <a:ext cx="11175796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0">
                <a:solidFill>
                  <a:srgbClr val="000000"/>
                </a:solidFill>
                <a:latin typeface="Calibri"/>
              </a:rPr>
              <a:t>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2998" y="787907"/>
            <a:ext cx="11214201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0">
                <a:solidFill>
                  <a:srgbClr val="000000"/>
                </a:solidFill>
                <a:latin typeface="Calibri"/>
              </a:rPr>
              <a:t>Name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95447" y="229616"/>
            <a:ext cx="8991752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600" b="1">
                <a:solidFill>
                  <a:srgbClr val="000000"/>
                </a:solidFill>
                <a:latin typeface="Times New Roman"/>
              </a:rPr>
              <a:t>RESEARCH  AND REFERENCES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6093" y="1102868"/>
            <a:ext cx="10681106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00" b="1">
                <a:solidFill>
                  <a:srgbClr val="000000"/>
                </a:solidFill>
                <a:latin typeface="Calibri"/>
              </a:rPr>
              <a:t>NCRB</a:t>
            </a:r>
            <a:r>
              <a:rPr sz="2800" b="0">
                <a:solidFill>
                  <a:srgbClr val="000000"/>
                </a:solidFill>
                <a:latin typeface="Calibri"/>
              </a:rPr>
              <a:t> – Crime statistics and CCTNS information.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6093" y="1534668"/>
            <a:ext cx="10681106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00" b="1">
                <a:solidFill>
                  <a:srgbClr val="000000"/>
                </a:solidFill>
                <a:latin typeface="Calibri"/>
              </a:rPr>
              <a:t>Neo4j Graph Data Science</a:t>
            </a:r>
            <a:r>
              <a:rPr sz="2800" b="0">
                <a:solidFill>
                  <a:srgbClr val="000000"/>
                </a:solidFill>
                <a:latin typeface="Calibri"/>
              </a:rPr>
              <a:t> – Graph analysis, link prediction.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6093" y="1953768"/>
            <a:ext cx="10681106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00" b="1">
                <a:solidFill>
                  <a:srgbClr val="000000"/>
                </a:solidFill>
                <a:latin typeface="Calibri"/>
              </a:rPr>
              <a:t>PyTorch Geometric (PyG)</a:t>
            </a:r>
            <a:r>
              <a:rPr sz="2800" b="0">
                <a:solidFill>
                  <a:srgbClr val="000000"/>
                </a:solidFill>
                <a:latin typeface="Calibri"/>
              </a:rPr>
              <a:t> – Graph Neural Networks framework.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6093" y="2385568"/>
            <a:ext cx="10681106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00" b="1">
                <a:solidFill>
                  <a:srgbClr val="000000"/>
                </a:solidFill>
                <a:latin typeface="Calibri"/>
              </a:rPr>
              <a:t>IEEE / ACM Papers</a:t>
            </a:r>
            <a:r>
              <a:rPr sz="2800" b="0">
                <a:solidFill>
                  <a:srgbClr val="000000"/>
                </a:solidFill>
                <a:latin typeface="Calibri"/>
              </a:rPr>
              <a:t> – Criminal network analysis with GNNs.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6093" y="2804668"/>
            <a:ext cx="10681106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00" b="1">
                <a:solidFill>
                  <a:srgbClr val="000000"/>
                </a:solidFill>
                <a:latin typeface="Calibri"/>
              </a:rPr>
              <a:t>Solidity, Hardhat &amp; IPFS</a:t>
            </a:r>
            <a:r>
              <a:rPr sz="2800" b="0">
                <a:solidFill>
                  <a:srgbClr val="000000"/>
                </a:solidFill>
                <a:latin typeface="Calibri"/>
              </a:rPr>
              <a:t> – Evidence integrity, immutable audit.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6093" y="3236468"/>
            <a:ext cx="10681106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00" b="1">
                <a:solidFill>
                  <a:srgbClr val="000000"/>
                </a:solidFill>
                <a:latin typeface="Calibri"/>
              </a:rPr>
              <a:t>Useful Links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6093" y="3655567"/>
            <a:ext cx="10681106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00" b="0" u="sng">
                <a:solidFill>
                  <a:srgbClr val="0000FF"/>
                </a:solidFill>
                <a:latin typeface="Calibri"/>
              </a:rPr>
              <a:t>Neo4j Graph Data Science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6093" y="4087368"/>
            <a:ext cx="10681106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00" b="0" u="sng">
                <a:solidFill>
                  <a:srgbClr val="0000FF"/>
                </a:solidFill>
                <a:latin typeface="Calibri"/>
              </a:rPr>
              <a:t>PyTorch Geometric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6093" y="4506468"/>
            <a:ext cx="10681106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00" b="0" u="sng">
                <a:solidFill>
                  <a:srgbClr val="0000FF"/>
                </a:solidFill>
                <a:latin typeface="Calibri"/>
              </a:rPr>
              <a:t>NCRB Official Website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6093" y="4938268"/>
            <a:ext cx="10681106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00" b="0" u="sng">
                <a:solidFill>
                  <a:srgbClr val="0000FF"/>
                </a:solidFill>
                <a:latin typeface="Calibri"/>
              </a:rPr>
              <a:t>Solidity Documentation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6093" y="5357368"/>
            <a:ext cx="10681106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00" b="0" u="sng">
                <a:solidFill>
                  <a:srgbClr val="0000FF"/>
                </a:solidFill>
                <a:latin typeface="Calibri"/>
              </a:rPr>
              <a:t>IPFS Documentation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6093" y="5789168"/>
            <a:ext cx="10681106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00" b="0" u="sng">
                <a:solidFill>
                  <a:srgbClr val="0000FF"/>
                </a:solidFill>
                <a:latin typeface="Calibri"/>
              </a:rPr>
              <a:t>Ganache (Local Blockchain)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17896" y="6443471"/>
            <a:ext cx="6769303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0">
                <a:solidFill>
                  <a:srgbClr val="808080"/>
                </a:solidFill>
                <a:latin typeface="Arial"/>
              </a:rPr>
              <a:t>@SIH Idea submission- Template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04396" y="6443471"/>
            <a:ext cx="5486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1">
                <a:solidFill>
                  <a:srgbClr val="808080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